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1999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over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ashboard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ver.png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Presentation Outline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From problem definition to real-time deployment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68680" y="1325880"/>
            <a:ext cx="5029200" cy="4480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Motivation and problem statement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Objectives and scientific contribution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Datasets and transfer learning strategy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Real-time system architecture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Multimodal fusion and temporal decision logic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Dashboard, alerts, validation and perspectives</a:t>
            </a:r>
          </a:p>
        </p:txBody>
      </p:sp>
      <p:sp>
        <p:nvSpPr>
          <p:cNvPr id="15" name="Shape 15"/>
          <p:cNvSpPr/>
          <p:nvPr/>
        </p:nvSpPr>
        <p:spPr>
          <a:xfrm>
            <a:off x="6400800" y="1417320"/>
            <a:ext cx="4297680" cy="3108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629400" y="15819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DDC97"/>
                </a:solidFill>
                <a:latin typeface="Aptos"/>
              </a:rPr>
              <a:t>Core idea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629400" y="1984248"/>
            <a:ext cx="3840480" cy="2450591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A driver-fatigue prototype should not rely on one cue only. DriveGuard combines eye appearance, mouth/yawn evidence, head posture, calibration and time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Motivation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Driver drowsiness is a multimodal safety problem</a:t>
            </a:r>
          </a:p>
        </p:txBody>
      </p:sp>
      <p:sp>
        <p:nvSpPr>
          <p:cNvPr id="14" name="Shape 14"/>
          <p:cNvSpPr/>
          <p:nvPr/>
        </p:nvSpPr>
        <p:spPr>
          <a:xfrm>
            <a:off x="685800" y="1234440"/>
            <a:ext cx="3383280" cy="384048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14400" y="139903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Why it matters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14400" y="1801368"/>
            <a:ext cx="2926080" cy="3182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Fatigue reduces attention, reaction time and lane control. Visual symptoms appear gradually and may combine weak cues before a clear dangerous event.</a:t>
            </a:r>
          </a:p>
        </p:txBody>
      </p:sp>
      <p:sp>
        <p:nvSpPr>
          <p:cNvPr id="17" name="Shape 17"/>
          <p:cNvSpPr/>
          <p:nvPr/>
        </p:nvSpPr>
        <p:spPr>
          <a:xfrm>
            <a:off x="4434840" y="1234440"/>
            <a:ext cx="3383280" cy="384048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663440" y="139903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Challenge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663440" y="1801368"/>
            <a:ext cx="2926080" cy="3182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Lighting, glasses, camera angle, face shape, network latency and low-quality webcams make single-threshold systems unstable.</a:t>
            </a:r>
          </a:p>
        </p:txBody>
      </p:sp>
      <p:sp>
        <p:nvSpPr>
          <p:cNvPr id="20" name="Shape 20"/>
          <p:cNvSpPr/>
          <p:nvPr/>
        </p:nvSpPr>
        <p:spPr>
          <a:xfrm>
            <a:off x="8183879" y="1234440"/>
            <a:ext cx="3383280" cy="384048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412480" y="139903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DDC97"/>
                </a:solidFill>
                <a:latin typeface="Aptos"/>
              </a:rPr>
              <a:t>Our answer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412480" y="1801368"/>
            <a:ext cx="2926080" cy="3182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Use multimodal deep learning and facial geometry, then stabilize the decision through calibration and temporal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Detect fatigue from a regular camera in real time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77240" y="12344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"/>
              </a:rPr>
              <a:t>Given a live video stream of a driver's face, estimate whether the driver state is NORMAL, WARNING or DANGER.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1188720" y="2148840"/>
            <a:ext cx="9692640" cy="0"/>
          </a:xfrm>
          <a:prstGeom prst="line">
            <a:avLst/>
          </a:prstGeom>
          <a:ln w="16000">
            <a:solidFill>
              <a:srgbClr val="1F8BBF"/>
            </a:solidFill>
          </a:ln>
        </p:spPr>
      </p:cxnSp>
      <p:sp>
        <p:nvSpPr>
          <p:cNvPr id="16" name="Text 16"/>
          <p:cNvSpPr txBox="1"/>
          <p:nvPr/>
        </p:nvSpPr>
        <p:spPr>
          <a:xfrm>
            <a:off x="1005840" y="2606040"/>
            <a:ext cx="9966960" cy="2194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Input: webcam, virtual phone camera, Android IP stream or generic video URL.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Output: fatigue score, safety state, alert evidence and live dashboard state.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Constraints: real-time behavior, low-cost hardware and interpretable signals.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Objectives and Contributions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What was implemented</a:t>
            </a:r>
          </a:p>
        </p:txBody>
      </p:sp>
      <p:sp>
        <p:nvSpPr>
          <p:cNvPr id="14" name="Shape 14"/>
          <p:cNvSpPr/>
          <p:nvPr/>
        </p:nvSpPr>
        <p:spPr>
          <a:xfrm>
            <a:off x="731520" y="1234440"/>
            <a:ext cx="3429000" cy="40233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60120" y="139903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Detection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60120" y="1801368"/>
            <a:ext cx="2971800" cy="33649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Two MobileNetV2 classifiers estimate sleepy eyes and yawning. MediaPipe provides facial landmarks for EAR, MAR, iris position and head pose.</a:t>
            </a:r>
          </a:p>
        </p:txBody>
      </p:sp>
      <p:sp>
        <p:nvSpPr>
          <p:cNvPr id="17" name="Shape 17"/>
          <p:cNvSpPr/>
          <p:nvPr/>
        </p:nvSpPr>
        <p:spPr>
          <a:xfrm>
            <a:off x="4389120" y="1234440"/>
            <a:ext cx="3429000" cy="40233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617720" y="139903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Decision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617720" y="1801368"/>
            <a:ext cx="2971800" cy="33649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CNN probabilities and geometric risks are fused, calibrated per driver, smoothed over time and classified into three safety levels.</a:t>
            </a:r>
          </a:p>
        </p:txBody>
      </p:sp>
      <p:sp>
        <p:nvSpPr>
          <p:cNvPr id="20" name="Shape 20"/>
          <p:cNvSpPr/>
          <p:nvPr/>
        </p:nvSpPr>
        <p:spPr>
          <a:xfrm>
            <a:off x="8046720" y="1234440"/>
            <a:ext cx="3429000" cy="40233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75320" y="139903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DDC97"/>
                </a:solidFill>
                <a:latin typeface="Aptos"/>
              </a:rPr>
              <a:t>Deployment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75320" y="1801368"/>
            <a:ext cx="2971800" cy="33649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The system includes alarm, screenshots, incident videos, CSV logs, optional Telegram notification and a zero-rerun live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Global System Architecture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End-to-end operational workflow</a:t>
            </a:r>
          </a:p>
        </p:txBody>
      </p:sp>
      <p:sp>
        <p:nvSpPr>
          <p:cNvPr id="14" name="Shape 14"/>
          <p:cNvSpPr/>
          <p:nvPr/>
        </p:nvSpPr>
        <p:spPr>
          <a:xfrm>
            <a:off x="457200" y="1828800"/>
            <a:ext cx="1600200" cy="12344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685800" y="199339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Camera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85800" y="2395728"/>
            <a:ext cx="1143000" cy="5760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Webcam / phone stream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2157984" y="222199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200" b="1">
                <a:solidFill>
                  <a:srgbClr val="8FBCE3"/>
                </a:solidFill>
                <a:latin typeface="Aptos"/>
              </a:rPr>
              <a:t>&gt;</a:t>
            </a:r>
          </a:p>
        </p:txBody>
      </p:sp>
      <p:sp>
        <p:nvSpPr>
          <p:cNvPr id="18" name="Shape 18"/>
          <p:cNvSpPr/>
          <p:nvPr/>
        </p:nvSpPr>
        <p:spPr>
          <a:xfrm>
            <a:off x="2331720" y="1828800"/>
            <a:ext cx="1600200" cy="12344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2560320" y="199339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MediaPipe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560320" y="2395728"/>
            <a:ext cx="1143000" cy="5760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Face landmarks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032504" y="222199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200" b="1">
                <a:solidFill>
                  <a:srgbClr val="8FBCE3"/>
                </a:solidFill>
                <a:latin typeface="Aptos"/>
              </a:rPr>
              <a:t>&gt;</a:t>
            </a:r>
          </a:p>
        </p:txBody>
      </p:sp>
      <p:sp>
        <p:nvSpPr>
          <p:cNvPr id="22" name="Shape 22"/>
          <p:cNvSpPr/>
          <p:nvPr/>
        </p:nvSpPr>
        <p:spPr>
          <a:xfrm>
            <a:off x="4206240" y="1828800"/>
            <a:ext cx="1600200" cy="12344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4434840" y="199339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A78BFA"/>
                </a:solidFill>
                <a:latin typeface="Aptos"/>
              </a:rPr>
              <a:t>CNNs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434840" y="2395728"/>
            <a:ext cx="1143000" cy="5760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Eye and mouth models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907024" y="222199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200" b="1">
                <a:solidFill>
                  <a:srgbClr val="8FBCE3"/>
                </a:solidFill>
                <a:latin typeface="Aptos"/>
              </a:rPr>
              <a:t>&gt;</a:t>
            </a:r>
          </a:p>
        </p:txBody>
      </p:sp>
      <p:sp>
        <p:nvSpPr>
          <p:cNvPr id="26" name="Shape 26"/>
          <p:cNvSpPr/>
          <p:nvPr/>
        </p:nvSpPr>
        <p:spPr>
          <a:xfrm>
            <a:off x="6080759" y="1828800"/>
            <a:ext cx="1600200" cy="12344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6309359" y="199339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Fusion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309359" y="2395728"/>
            <a:ext cx="1143000" cy="5760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Multimodal fatigue score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7781544" y="222199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200" b="1">
                <a:solidFill>
                  <a:srgbClr val="8FBCE3"/>
                </a:solidFill>
                <a:latin typeface="Aptos"/>
              </a:rPr>
              <a:t>&gt;</a:t>
            </a:r>
          </a:p>
        </p:txBody>
      </p:sp>
      <p:sp>
        <p:nvSpPr>
          <p:cNvPr id="30" name="Shape 30"/>
          <p:cNvSpPr/>
          <p:nvPr/>
        </p:nvSpPr>
        <p:spPr>
          <a:xfrm>
            <a:off x="7955279" y="1828800"/>
            <a:ext cx="1600200" cy="12344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8183879" y="199339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4D5A"/>
                </a:solidFill>
                <a:latin typeface="Aptos"/>
              </a:rPr>
              <a:t>Decision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183879" y="2395728"/>
            <a:ext cx="1143000" cy="5760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Normal / warning / danger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656063" y="222199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200" b="1">
                <a:solidFill>
                  <a:srgbClr val="8FBCE3"/>
                </a:solidFill>
                <a:latin typeface="Aptos"/>
              </a:rPr>
              <a:t>&gt;</a:t>
            </a:r>
          </a:p>
        </p:txBody>
      </p:sp>
      <p:sp>
        <p:nvSpPr>
          <p:cNvPr id="34" name="Shape 34"/>
          <p:cNvSpPr/>
          <p:nvPr/>
        </p:nvSpPr>
        <p:spPr>
          <a:xfrm>
            <a:off x="9829800" y="1828800"/>
            <a:ext cx="1600200" cy="12344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10058400" y="199339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DDC97"/>
                </a:solidFill>
                <a:latin typeface="Aptos"/>
              </a:rPr>
              <a:t>Outputs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0058400" y="2395728"/>
            <a:ext cx="1143000" cy="5760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Alarm, logs, dashboard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914400" y="3794760"/>
            <a:ext cx="10424160" cy="1280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>
                <a:solidFill>
                  <a:srgbClr val="D6E4F5"/>
                </a:solidFill>
                <a:latin typeface="Aptos"/>
              </a:rPr>
              <a:t>- The detector and the dashboard are decoupled through an atomic JSON state file.</a:t>
            </a:r>
          </a:p>
          <a:p>
            <a:pPr algn="l"/>
            <a:r>
              <a:rPr lang="en-US" sz="1800">
                <a:solidFill>
                  <a:srgbClr val="D6E4F5"/>
                </a:solidFill>
                <a:latin typeface="Aptos"/>
              </a:rPr>
              <a:t>- The dashboard displays live values without forcing the inference pipeline to wait.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Datasets and Training Strategy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Transfer learning with MobileNetV2</a:t>
            </a:r>
          </a:p>
        </p:txBody>
      </p:sp>
      <p:sp>
        <p:nvSpPr>
          <p:cNvPr id="14" name="Shape 14"/>
          <p:cNvSpPr/>
          <p:nvPr/>
        </p:nvSpPr>
        <p:spPr>
          <a:xfrm>
            <a:off x="731520" y="1234440"/>
            <a:ext cx="5029200" cy="438912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60120" y="139903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Eye model - MRL Eye Dataset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60120" y="1801368"/>
            <a:ext cx="4572000" cy="373075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Train: 50,937 images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Validation: 16,980 images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Test: 16,981 images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Classes: awake = 0, sleepy = 1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Recorded test accuracy: 98.91%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Recorded test AUC: 99.86%</a:t>
            </a:r>
          </a:p>
        </p:txBody>
      </p:sp>
      <p:sp>
        <p:nvSpPr>
          <p:cNvPr id="17" name="Shape 17"/>
          <p:cNvSpPr/>
          <p:nvPr/>
        </p:nvSpPr>
        <p:spPr>
          <a:xfrm>
            <a:off x="6400800" y="1234440"/>
            <a:ext cx="5029200" cy="438912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6629400" y="139903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Mouth model - Yawn dataset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629400" y="1801368"/>
            <a:ext cx="4572000" cy="373075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Train: 1,233 images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Validation/test folder: 215 images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Classes: no_yawn = 0, yawn = 1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Original best validation accuracy: 83.72%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Important: independent mouth test split is future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CNN Model Design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Lightweight binary classifiers for real-time inference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77240" y="1234440"/>
            <a:ext cx="5394960" cy="3566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>
                <a:solidFill>
                  <a:srgbClr val="D6E4F5"/>
                </a:solidFill>
                <a:latin typeface="Aptos"/>
              </a:rPr>
              <a:t>- Backbone: MobileNetV2 with ImageNet initialization.</a:t>
            </a:r>
          </a:p>
          <a:p>
            <a:pPr algn="l"/>
            <a:r>
              <a:rPr lang="en-US" sz="1850">
                <a:solidFill>
                  <a:srgbClr val="D6E4F5"/>
                </a:solidFill>
                <a:latin typeface="Aptos"/>
              </a:rPr>
              <a:t>- Input size: 64 x 64 x 3.</a:t>
            </a:r>
          </a:p>
          <a:p>
            <a:pPr algn="l"/>
            <a:r>
              <a:rPr lang="en-US" sz="1850">
                <a:solidFill>
                  <a:srgbClr val="D6E4F5"/>
                </a:solidFill>
                <a:latin typeface="Aptos"/>
              </a:rPr>
              <a:t>- Last 40 layers unfrozen for fine-tuning.</a:t>
            </a:r>
          </a:p>
          <a:p>
            <a:pPr algn="l"/>
            <a:r>
              <a:rPr lang="en-US" sz="1850">
                <a:solidFill>
                  <a:srgbClr val="D6E4F5"/>
                </a:solidFill>
                <a:latin typeface="Aptos"/>
              </a:rPr>
              <a:t>- Global average pooling, batch normalization, dense layers and dropout.</a:t>
            </a:r>
          </a:p>
          <a:p>
            <a:pPr algn="l"/>
            <a:r>
              <a:rPr lang="en-US" sz="1850">
                <a:solidFill>
                  <a:srgbClr val="D6E4F5"/>
                </a:solidFill>
                <a:latin typeface="Aptos"/>
              </a:rPr>
              <a:t>- Output: one sigmoid probability per model.</a:t>
            </a:r>
          </a:p>
        </p:txBody>
      </p:sp>
      <p:sp>
        <p:nvSpPr>
          <p:cNvPr id="15" name="Shape 15"/>
          <p:cNvSpPr/>
          <p:nvPr/>
        </p:nvSpPr>
        <p:spPr>
          <a:xfrm>
            <a:off x="6537960" y="1417320"/>
            <a:ext cx="2148840" cy="14630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766560" y="158191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Eye model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766560" y="1984248"/>
            <a:ext cx="1691640" cy="8046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2,624,065 total parameters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2,045,057 trainable</a:t>
            </a:r>
          </a:p>
        </p:txBody>
      </p:sp>
      <p:sp>
        <p:nvSpPr>
          <p:cNvPr id="18" name="Shape 18"/>
          <p:cNvSpPr/>
          <p:nvPr/>
        </p:nvSpPr>
        <p:spPr>
          <a:xfrm>
            <a:off x="9052560" y="1417320"/>
            <a:ext cx="2148840" cy="14630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9281160" y="158191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A78BFA"/>
                </a:solidFill>
                <a:latin typeface="Aptos"/>
              </a:rPr>
              <a:t>Mouth model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281160" y="1984248"/>
            <a:ext cx="1691640" cy="8046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2,435,393 total parameters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1,856,385 trainable</a:t>
            </a:r>
          </a:p>
        </p:txBody>
      </p:sp>
      <p:sp>
        <p:nvSpPr>
          <p:cNvPr id="21" name="Shape 21"/>
          <p:cNvSpPr/>
          <p:nvPr/>
        </p:nvSpPr>
        <p:spPr>
          <a:xfrm>
            <a:off x="6537960" y="3337560"/>
            <a:ext cx="4663440" cy="141732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6766560" y="350215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DDC97"/>
                </a:solidFill>
                <a:latin typeface="Aptos"/>
              </a:rPr>
              <a:t>Why MobileNetV2?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766560" y="3904487"/>
            <a:ext cx="4206240" cy="75895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Good compromise between accuracy, CPU speed and model size for a real-time student prototype.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Facial Geometry Features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MediaPipe landmarks make the decision interpretable</a:t>
            </a:r>
          </a:p>
        </p:txBody>
      </p:sp>
      <p:sp>
        <p:nvSpPr>
          <p:cNvPr id="14" name="Shape 14"/>
          <p:cNvSpPr/>
          <p:nvPr/>
        </p:nvSpPr>
        <p:spPr>
          <a:xfrm>
            <a:off x="731520" y="1234440"/>
            <a:ext cx="3291840" cy="411480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60120" y="1399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EAR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60120" y="1801368"/>
            <a:ext cx="2834640" cy="34564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Eye Aspect Ratio estimates whether the eyes are closing using distances between eye landmarks.</a:t>
            </a:r>
          </a:p>
        </p:txBody>
      </p:sp>
      <p:sp>
        <p:nvSpPr>
          <p:cNvPr id="17" name="Shape 17"/>
          <p:cNvSpPr/>
          <p:nvPr/>
        </p:nvSpPr>
        <p:spPr>
          <a:xfrm>
            <a:off x="4434840" y="1234440"/>
            <a:ext cx="3291840" cy="411480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663440" y="1399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A78BFA"/>
                </a:solidFill>
                <a:latin typeface="Aptos"/>
              </a:rPr>
              <a:t>MAR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663440" y="1801368"/>
            <a:ext cx="2834640" cy="34564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Mouth Aspect Ratio estimates mouth opening and supports yawn detection.</a:t>
            </a:r>
          </a:p>
        </p:txBody>
      </p:sp>
      <p:sp>
        <p:nvSpPr>
          <p:cNvPr id="20" name="Shape 20"/>
          <p:cNvSpPr/>
          <p:nvPr/>
        </p:nvSpPr>
        <p:spPr>
          <a:xfrm>
            <a:off x="8138160" y="1234440"/>
            <a:ext cx="3291840" cy="411480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366760" y="1399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B7185"/>
                </a:solidFill>
                <a:latin typeface="Aptos"/>
              </a:rPr>
              <a:t>Head pose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366760" y="1801368"/>
            <a:ext cx="2834640" cy="34564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Approximate roll and pitch highlight abnormal head posture or loss of frontal attention.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Multimodal Fusion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Combining learned and geometric evidence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68680" y="123444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ptos"/>
              </a:rPr>
              <a:t>Eye, mouth and head evidence are normalized to risks, then merged into one fatigue score.</a:t>
            </a:r>
          </a:p>
        </p:txBody>
      </p:sp>
      <p:sp>
        <p:nvSpPr>
          <p:cNvPr id="15" name="Shape 15"/>
          <p:cNvSpPr/>
          <p:nvPr/>
        </p:nvSpPr>
        <p:spPr>
          <a:xfrm>
            <a:off x="914400" y="1920240"/>
            <a:ext cx="4846320" cy="114300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1143000" y="208483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Eye risk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43000" y="2487168"/>
            <a:ext cx="4389120" cy="4846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0.70 x Eye CNN + 0.30 x EAR risk</a:t>
            </a:r>
          </a:p>
        </p:txBody>
      </p:sp>
      <p:sp>
        <p:nvSpPr>
          <p:cNvPr id="18" name="Shape 18"/>
          <p:cNvSpPr/>
          <p:nvPr/>
        </p:nvSpPr>
        <p:spPr>
          <a:xfrm>
            <a:off x="6400800" y="1920240"/>
            <a:ext cx="4846320" cy="114300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6629400" y="208483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A78BFA"/>
                </a:solidFill>
                <a:latin typeface="Aptos"/>
              </a:rPr>
              <a:t>Mouth risk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629400" y="2487168"/>
            <a:ext cx="4389120" cy="4846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0.50 x Mouth CNN + 0.50 x MAR risk</a:t>
            </a:r>
          </a:p>
        </p:txBody>
      </p:sp>
      <p:sp>
        <p:nvSpPr>
          <p:cNvPr id="21" name="Shape 21"/>
          <p:cNvSpPr/>
          <p:nvPr/>
        </p:nvSpPr>
        <p:spPr>
          <a:xfrm>
            <a:off x="914400" y="3474720"/>
            <a:ext cx="10332720" cy="118872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1143000" y="3639312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Final score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143000" y="4041648"/>
            <a:ext cx="9875520" cy="53035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0.50 x Eye risk + 0.30 x Mouth risk + 0.20 x Head-pose risk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097280" y="516636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500">
                <a:solidFill>
                  <a:srgbClr val="B8C7DA"/>
                </a:solidFill>
                <a:latin typeface="Aptos"/>
              </a:rPr>
              <a:t>The weights reflect the importance of prolonged eye closure while preserving confirmation from yawning and head posture.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Calibration and Temporal Reliability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Reducing false alarms in real-time conditions</a:t>
            </a:r>
          </a:p>
        </p:txBody>
      </p:sp>
      <p:sp>
        <p:nvSpPr>
          <p:cNvPr id="14" name="Shape 14"/>
          <p:cNvSpPr/>
          <p:nvPr/>
        </p:nvSpPr>
        <p:spPr>
          <a:xfrm>
            <a:off x="731520" y="1234440"/>
            <a:ext cx="3429000" cy="4251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60120" y="139903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Personal calibration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60120" y="1801368"/>
            <a:ext cx="2971800" cy="3593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At session start, EAR and MAR samples are collected while the driver looks forward. Thresholds are adapted to the current face and camera angle.</a:t>
            </a:r>
          </a:p>
        </p:txBody>
      </p:sp>
      <p:sp>
        <p:nvSpPr>
          <p:cNvPr id="17" name="Shape 17"/>
          <p:cNvSpPr/>
          <p:nvPr/>
        </p:nvSpPr>
        <p:spPr>
          <a:xfrm>
            <a:off x="4389120" y="1234440"/>
            <a:ext cx="3429000" cy="4251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617720" y="139903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Time-based events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617720" y="1801368"/>
            <a:ext cx="2971800" cy="3593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Blink, prolonged closure, yawn, danger confirmation and danger release are measured in seconds, not frame counts.</a:t>
            </a:r>
          </a:p>
        </p:txBody>
      </p:sp>
      <p:sp>
        <p:nvSpPr>
          <p:cNvPr id="20" name="Shape 20"/>
          <p:cNvSpPr/>
          <p:nvPr/>
        </p:nvSpPr>
        <p:spPr>
          <a:xfrm>
            <a:off x="8046720" y="1234440"/>
            <a:ext cx="3429000" cy="4251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75320" y="139903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DDC97"/>
                </a:solidFill>
                <a:latin typeface="Aptos"/>
              </a:rPr>
              <a:t>Stability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75320" y="1801368"/>
            <a:ext cx="2971800" cy="3593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A 1.5-second smoothing window, hysteresis and pre-alert cooldown prevent visible flicker and alert spam.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Decision Logic and Alerts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From score to safety action</a:t>
            </a:r>
          </a:p>
        </p:txBody>
      </p:sp>
      <p:sp>
        <p:nvSpPr>
          <p:cNvPr id="14" name="Shape 14"/>
          <p:cNvSpPr/>
          <p:nvPr/>
        </p:nvSpPr>
        <p:spPr>
          <a:xfrm>
            <a:off x="731520" y="1234440"/>
            <a:ext cx="3200400" cy="12344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60120" y="139903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DDC97"/>
                </a:solidFill>
                <a:latin typeface="Aptos"/>
              </a:rPr>
              <a:t>NORMAL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60120" y="1801368"/>
            <a:ext cx="2743200" cy="5760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Fatigue score below 28%.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Continue monitoring.</a:t>
            </a:r>
          </a:p>
        </p:txBody>
      </p:sp>
      <p:sp>
        <p:nvSpPr>
          <p:cNvPr id="17" name="Shape 17"/>
          <p:cNvSpPr/>
          <p:nvPr/>
        </p:nvSpPr>
        <p:spPr>
          <a:xfrm>
            <a:off x="4480560" y="1234440"/>
            <a:ext cx="3200400" cy="12344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709160" y="139903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WARNING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709160" y="1801368"/>
            <a:ext cx="2743200" cy="5760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Score between 28% and 58%.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Break recommended.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0" y="1234440"/>
            <a:ext cx="3200400" cy="123444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458200" y="139903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4D5A"/>
                </a:solidFill>
                <a:latin typeface="Aptos"/>
              </a:rPr>
              <a:t>DANGER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458200" y="1801368"/>
            <a:ext cx="2743200" cy="5760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Score at 58% or higher for 1.5 seconds.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Alarm and evidence capture.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005840" y="324612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Danger requires calibration and sustained evidence.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Safe release also requires a stable period to avoid alarm flickering.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Pre-alerts are generated when the warning score is rising over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Evidence and Notification Pipeline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What happens during a confirmed danger event</a:t>
            </a:r>
          </a:p>
        </p:txBody>
      </p:sp>
      <p:sp>
        <p:nvSpPr>
          <p:cNvPr id="14" name="Shape 14"/>
          <p:cNvSpPr/>
          <p:nvPr/>
        </p:nvSpPr>
        <p:spPr>
          <a:xfrm>
            <a:off x="868680" y="1417320"/>
            <a:ext cx="3154680" cy="132588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1097280" y="158191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Step 1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97280" y="1984248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Alarm sound</a:t>
            </a:r>
          </a:p>
        </p:txBody>
      </p:sp>
      <p:sp>
        <p:nvSpPr>
          <p:cNvPr id="17" name="Shape 17"/>
          <p:cNvSpPr/>
          <p:nvPr/>
        </p:nvSpPr>
        <p:spPr>
          <a:xfrm>
            <a:off x="4663440" y="1417320"/>
            <a:ext cx="3154680" cy="132588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892040" y="158191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Step 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892040" y="1984248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Danger screenshot</a:t>
            </a:r>
          </a:p>
        </p:txBody>
      </p:sp>
      <p:sp>
        <p:nvSpPr>
          <p:cNvPr id="20" name="Shape 20"/>
          <p:cNvSpPr/>
          <p:nvPr/>
        </p:nvSpPr>
        <p:spPr>
          <a:xfrm>
            <a:off x="8458200" y="1417320"/>
            <a:ext cx="3154680" cy="132588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686800" y="158191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DDC97"/>
                </a:solidFill>
                <a:latin typeface="Aptos"/>
              </a:rPr>
              <a:t>Step 3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686800" y="1984248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Incident video</a:t>
            </a:r>
          </a:p>
        </p:txBody>
      </p:sp>
      <p:sp>
        <p:nvSpPr>
          <p:cNvPr id="23" name="Shape 23"/>
          <p:cNvSpPr/>
          <p:nvPr/>
        </p:nvSpPr>
        <p:spPr>
          <a:xfrm>
            <a:off x="868680" y="3291839"/>
            <a:ext cx="3154680" cy="132588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1097280" y="345643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A78BFA"/>
                </a:solidFill>
                <a:latin typeface="Aptos"/>
              </a:rPr>
              <a:t>Step 4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097280" y="3858768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CSV session log</a:t>
            </a:r>
          </a:p>
        </p:txBody>
      </p:sp>
      <p:sp>
        <p:nvSpPr>
          <p:cNvPr id="26" name="Shape 26"/>
          <p:cNvSpPr/>
          <p:nvPr/>
        </p:nvSpPr>
        <p:spPr>
          <a:xfrm>
            <a:off x="4663440" y="3291839"/>
            <a:ext cx="3154680" cy="132588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4892040" y="345643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B7185"/>
                </a:solidFill>
                <a:latin typeface="Aptos"/>
              </a:rPr>
              <a:t>Step 5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4892040" y="3858768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Dashboard event</a:t>
            </a:r>
          </a:p>
        </p:txBody>
      </p:sp>
      <p:sp>
        <p:nvSpPr>
          <p:cNvPr id="29" name="Shape 29"/>
          <p:cNvSpPr/>
          <p:nvPr/>
        </p:nvSpPr>
        <p:spPr>
          <a:xfrm>
            <a:off x="8458200" y="3291839"/>
            <a:ext cx="3154680" cy="132588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8686800" y="345643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Step 6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686800" y="3858768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Optional Telegram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600">
                <a:solidFill>
                  <a:srgbClr val="B8C7DA"/>
                </a:solidFill>
                <a:latin typeface="Aptos"/>
              </a:rPr>
              <a:t>The system already generated screenshots, videos, CSV logs and live JSON states during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Real-Time Dashboard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Monitoring interface for the final demonstration</a:t>
            </a:r>
          </a:p>
        </p:txBody>
      </p:sp>
      <p:pic>
        <p:nvPicPr>
          <p:cNvPr id="14" name="dashboard.png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4709160"/>
          </a:xfrm>
          <a:prstGeom prst="rect">
            <a:avLst/>
          </a:prstGeom>
        </p:spPr>
      </p:pic>
      <p:sp>
        <p:nvSpPr>
          <p:cNvPr id="15" name="Shape 15"/>
          <p:cNvSpPr/>
          <p:nvPr/>
        </p:nvSpPr>
        <p:spPr>
          <a:xfrm>
            <a:off x="685800" y="5961888"/>
            <a:ext cx="10835640" cy="41148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14400" y="6044184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250">
                <a:solidFill>
                  <a:srgbClr val="D8E6F7"/>
                </a:solidFill>
                <a:latin typeface="Aptos"/>
              </a:rPr>
              <a:t>Final dashboard: stable HTML view, JavaScript polling every 200 ms, no Streamlit reruns during live monitoring.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Implementation Details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Main files and responsibilities</a:t>
            </a:r>
          </a:p>
        </p:txBody>
      </p:sp>
      <p:sp>
        <p:nvSpPr>
          <p:cNvPr id="14" name="Shape 14"/>
          <p:cNvSpPr/>
          <p:nvPr/>
        </p:nvSpPr>
        <p:spPr>
          <a:xfrm>
            <a:off x="685800" y="1143000"/>
            <a:ext cx="3474720" cy="44805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14400" y="130759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main.py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14400" y="1709928"/>
            <a:ext cx="3017520" cy="38221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Camera capture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MediaPipe landmarks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CNN inference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Fusion and temporal logic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Alerts, recording and logs</a:t>
            </a:r>
          </a:p>
        </p:txBody>
      </p:sp>
      <p:sp>
        <p:nvSpPr>
          <p:cNvPr id="17" name="Shape 17"/>
          <p:cNvSpPr/>
          <p:nvPr/>
        </p:nvSpPr>
        <p:spPr>
          <a:xfrm>
            <a:off x="4343400" y="1143000"/>
            <a:ext cx="3474720" cy="44805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572000" y="130759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DDC97"/>
                </a:solidFill>
                <a:latin typeface="Aptos"/>
              </a:rPr>
              <a:t>dashboard.py + HTML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572000" y="1709928"/>
            <a:ext cx="3017520" cy="38221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Stable Streamlit shell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Local state endpoint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Zero-rerun browser dashboard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SVG/CSS live charts</a:t>
            </a:r>
          </a:p>
        </p:txBody>
      </p:sp>
      <p:sp>
        <p:nvSpPr>
          <p:cNvPr id="20" name="Shape 20"/>
          <p:cNvSpPr/>
          <p:nvPr/>
        </p:nvSpPr>
        <p:spPr>
          <a:xfrm>
            <a:off x="8001000" y="1143000"/>
            <a:ext cx="3474720" cy="44805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0" y="130759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training files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0" y="1709928"/>
            <a:ext cx="3017520" cy="38221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deep-learning.ipynb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train_mouth_model_v2.py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requirements files</a:t>
            </a:r>
          </a:p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trained Keras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Validation and Final Checks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What was verified before submission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68680" y="1188720"/>
            <a:ext cx="10607040" cy="4023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Python syntax verified for detector, dashboard and training script.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Dependency consistency checked with pip check.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Both Keras models loaded successfully.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Dashboard shell rendered with one stable iframe and zero exceptions.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JavaScript dashboard engine passed syntax and endpoint checks.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GitHub repository contains code, documentation, notebook and both trained models.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Limitations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Honest scientific discussion</a:t>
            </a:r>
          </a:p>
        </p:txBody>
      </p:sp>
      <p:sp>
        <p:nvSpPr>
          <p:cNvPr id="14" name="Shape 14"/>
          <p:cNvSpPr/>
          <p:nvPr/>
        </p:nvSpPr>
        <p:spPr>
          <a:xfrm>
            <a:off x="731520" y="1234440"/>
            <a:ext cx="3429000" cy="4251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60120" y="139903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Mouth validation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60120" y="1801368"/>
            <a:ext cx="2971800" cy="3593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The mouth dataset needs a fully independent untouched test split before strong final accuracy claims.</a:t>
            </a:r>
          </a:p>
        </p:txBody>
      </p:sp>
      <p:sp>
        <p:nvSpPr>
          <p:cNvPr id="17" name="Shape 17"/>
          <p:cNvSpPr/>
          <p:nvPr/>
        </p:nvSpPr>
        <p:spPr>
          <a:xfrm>
            <a:off x="4389120" y="1234440"/>
            <a:ext cx="3429000" cy="4251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617720" y="139903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B7185"/>
                </a:solidFill>
                <a:latin typeface="Aptos"/>
              </a:rPr>
              <a:t>Real-world robustness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617720" y="1801368"/>
            <a:ext cx="2971800" cy="3593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Lighting, glasses, blur, camera angle and phone-network quality can still affect performance.</a:t>
            </a:r>
          </a:p>
        </p:txBody>
      </p:sp>
      <p:sp>
        <p:nvSpPr>
          <p:cNvPr id="20" name="Shape 20"/>
          <p:cNvSpPr/>
          <p:nvPr/>
        </p:nvSpPr>
        <p:spPr>
          <a:xfrm>
            <a:off x="8046720" y="1234440"/>
            <a:ext cx="3429000" cy="4251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75320" y="139903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Temporal model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75320" y="1801368"/>
            <a:ext cx="2971800" cy="3593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The implemented system uses temporal smoothing, not a recurrent LSTM. CNN-LSTM remains future work.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Future Work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How to improve the research quality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68680" y="1234440"/>
            <a:ext cx="10515600" cy="42976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Create subject-independent train, validation and test splits.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Evaluate the full system with labeled real driving or simulated sessions.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Report precision, recall, F1-score, false alarms per hour and alert delay.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Optimize fusion weights on a multimodal validation dataset.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Add a true temporal architecture: CNN-LSTM, temporal convolution or transformer.</a:t>
            </a:r>
          </a:p>
          <a:p>
            <a:pPr algn="l"/>
            <a:r>
              <a:rPr lang="en-US" sz="1900">
                <a:solidFill>
                  <a:srgbClr val="D6E4F5"/>
                </a:solidFill>
                <a:latin typeface="Aptos"/>
              </a:rPr>
              <a:t>- Export TensorFlow Lite models for embedded or low-power deployment.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Demonstration Scenario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Recommended order for the oral presentation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68680" y="1234440"/>
            <a:ext cx="10515600" cy="4206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Start the Streamlit dashboard.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Start the detector with webcam or phone camera.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Complete personal calibration.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Show normal monitoring values.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Demonstrate a yawn and prolonged eye closure.</a:t>
            </a:r>
          </a:p>
          <a:p>
            <a:pPr algn="l"/>
            <a:r>
              <a:rPr lang="en-US" sz="2000">
                <a:solidFill>
                  <a:srgbClr val="D6E4F5"/>
                </a:solidFill>
                <a:latin typeface="Aptos"/>
              </a:rPr>
              <a:t>- Show the warning or danger state, dashboard history and generated evidence.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94360" y="3200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94360" y="868680"/>
            <a:ext cx="10607040" cy="0"/>
          </a:xfrm>
          <a:prstGeom prst="line">
            <a:avLst/>
          </a:prstGeom>
          <a:ln w="12000">
            <a:solidFill>
              <a:srgbClr val="1F8BBF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93268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50">
                <a:solidFill>
                  <a:srgbClr val="8FBCE3"/>
                </a:solidFill>
                <a:latin typeface="Aptos"/>
              </a:rPr>
              <a:t>A complete academic prototype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68680" y="12344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DriveGuard demonstrates a complete pipeline from deep learning models to a real-time driver-vigilance interface.</a:t>
            </a:r>
          </a:p>
        </p:txBody>
      </p:sp>
      <p:sp>
        <p:nvSpPr>
          <p:cNvPr id="15" name="Shape 15"/>
          <p:cNvSpPr/>
          <p:nvPr/>
        </p:nvSpPr>
        <p:spPr>
          <a:xfrm>
            <a:off x="1005840" y="2331720"/>
            <a:ext cx="3108960" cy="1965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1234440" y="249631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8BDF8"/>
                </a:solidFill>
                <a:latin typeface="Aptos"/>
              </a:rPr>
              <a:t>Scientific value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234440" y="2898648"/>
            <a:ext cx="2651760" cy="1307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Hybrid fusion of CNN predictions and interpretable facial geometry.</a:t>
            </a:r>
          </a:p>
        </p:txBody>
      </p:sp>
      <p:sp>
        <p:nvSpPr>
          <p:cNvPr id="18" name="Shape 18"/>
          <p:cNvSpPr/>
          <p:nvPr/>
        </p:nvSpPr>
        <p:spPr>
          <a:xfrm>
            <a:off x="4572000" y="2331720"/>
            <a:ext cx="3108960" cy="1965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4800600" y="249631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3DDC97"/>
                </a:solidFill>
                <a:latin typeface="Aptos"/>
              </a:rPr>
              <a:t>Engineering value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4800600" y="2898648"/>
            <a:ext cx="2651760" cy="1307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Real-time alerts, evidence capture, phone-camera support and dashboard.</a:t>
            </a:r>
          </a:p>
        </p:txBody>
      </p:sp>
      <p:sp>
        <p:nvSpPr>
          <p:cNvPr id="21" name="Shape 21"/>
          <p:cNvSpPr/>
          <p:nvPr/>
        </p:nvSpPr>
        <p:spPr>
          <a:xfrm>
            <a:off x="8138160" y="2331720"/>
            <a:ext cx="3108960" cy="1965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D4468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8366760" y="249631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FFB020"/>
                </a:solidFill>
                <a:latin typeface="Aptos"/>
              </a:rPr>
              <a:t>Academic honesty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366760" y="2898648"/>
            <a:ext cx="2651760" cy="1307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20">
                <a:solidFill>
                  <a:srgbClr val="D8E6F7"/>
                </a:solidFill>
                <a:latin typeface="Aptos"/>
              </a:rPr>
              <a:t>Clear limitations and realistic future work toward stronger validation.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828800" y="5074920"/>
            <a:ext cx="854964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iveGuard">
  <a:themeElements>
    <a:clrScheme name="DriveGuard">
      <a:dk1>
        <a:srgbClr val="07111F"/>
      </a:dk1>
      <a:lt1>
        <a:srgbClr val="FFFFFF"/>
      </a:lt1>
      <a:dk2>
        <a:srgbClr val="0F172A"/>
      </a:dk2>
      <a:lt2>
        <a:srgbClr val="D8E6F7"/>
      </a:lt2>
      <a:accent1>
        <a:srgbClr val="38BDF8"/>
      </a:accent1>
      <a:accent2>
        <a:srgbClr val="3DDC97"/>
      </a:accent2>
      <a:accent3>
        <a:srgbClr val="FFB020"/>
      </a:accent3>
      <a:accent4>
        <a:srgbClr val="FF4D5A"/>
      </a:accent4>
      <a:accent5>
        <a:srgbClr val="A78BFA"/>
      </a:accent5>
      <a:accent6>
        <a:srgbClr val="FB7185"/>
      </a:accent6>
      <a:hlink>
        <a:srgbClr val="38BDF8"/>
      </a:hlink>
      <a:folHlink>
        <a:srgbClr val="A78BF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riveGuard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Drowsiness Detection System</dc:title>
  <dc:creator>BEN DRIF Abdelhamid and GHOUDRANI Hamza</dc:creator>
  <cp:lastModifiedBy>Codex</cp:lastModifiedBy>
</cp:coreProperties>
</file>